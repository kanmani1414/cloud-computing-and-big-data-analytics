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56" r:id="rId5"/>
    <p:sldId id="257" r:id="rId6"/>
    <p:sldId id="262" r:id="rId7"/>
    <p:sldId id="258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48" autoAdjust="0"/>
    <p:restoredTop sz="94660"/>
  </p:normalViewPr>
  <p:slideViewPr>
    <p:cSldViewPr snapToGrid="0">
      <p:cViewPr>
        <p:scale>
          <a:sx n="66" d="100"/>
          <a:sy n="66" d="100"/>
        </p:scale>
        <p:origin x="60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52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608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29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216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36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14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06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862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093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736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298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305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165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212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523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923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901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8D914-6605-4F39-9F5B-FB95CDE684B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B9F9C-8C02-498C-9EE4-3C9464D2D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7520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CEB36B-53CE-2866-A985-3ECCB49F8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786" y="439645"/>
            <a:ext cx="9899874" cy="621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90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43" y="775252"/>
            <a:ext cx="10137914" cy="523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205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04" y="905899"/>
            <a:ext cx="10534135" cy="525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2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93240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80462" y="2345526"/>
            <a:ext cx="80506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Presentation</a:t>
            </a:r>
          </a:p>
          <a:p>
            <a:pPr lvl="0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Iaas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Paas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Saas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 Educational Institution.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3334" y="5332682"/>
            <a:ext cx="35753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Presented by:</a:t>
            </a:r>
            <a:br>
              <a:rPr lang="en-US" sz="2000" dirty="0"/>
            </a:br>
            <a:r>
              <a:rPr lang="en-US" sz="2000" dirty="0"/>
              <a:t>KANMANI L(192511414)</a:t>
            </a:r>
          </a:p>
          <a:p>
            <a:r>
              <a:rPr lang="en-US" sz="2000" dirty="0"/>
              <a:t>G.HIMA BINDU(192511377)</a:t>
            </a:r>
            <a:endParaRPr lang="en-IN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678873" y="5332682"/>
            <a:ext cx="47810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Guided  by:</a:t>
            </a:r>
            <a:br>
              <a:rPr lang="en-US" sz="2000" dirty="0"/>
            </a:br>
            <a:r>
              <a:rPr lang="en-US" sz="2000" dirty="0" err="1"/>
              <a:t>Dr.P.RAJARAM</a:t>
            </a:r>
            <a:endParaRPr lang="en-IN" sz="2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86"/>
          <a:stretch/>
        </p:blipFill>
        <p:spPr>
          <a:xfrm>
            <a:off x="7769050" y="2438264"/>
            <a:ext cx="4219750" cy="25655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270B8C-6B1B-C3A5-9BD8-80A5DC752B6C}"/>
              </a:ext>
            </a:extLst>
          </p:cNvPr>
          <p:cNvSpPr txBox="1"/>
          <p:nvPr/>
        </p:nvSpPr>
        <p:spPr>
          <a:xfrm>
            <a:off x="629192" y="4454711"/>
            <a:ext cx="6564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CSA1522-CLOUDCOMPUTING AND BIGDATA ANALYTICS</a:t>
            </a:r>
          </a:p>
        </p:txBody>
      </p:sp>
    </p:spTree>
    <p:extLst>
      <p:ext uri="{BB962C8B-B14F-4D97-AF65-F5344CB8AC3E}">
        <p14:creationId xmlns:p14="http://schemas.microsoft.com/office/powerpoint/2010/main" val="397717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907" y="395426"/>
            <a:ext cx="10353761" cy="132632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in Education: Overview &amp; 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8832" y="1611673"/>
            <a:ext cx="10754743" cy="274982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in Education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resources and digital services over the Internet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Supports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learning, data storage, student management &amp; collaboration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Reduces the need for extensive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IT infrastructure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Understand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IaaS, PaaS &amp; SaaS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Compare their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control, management &amp; applications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Explore their role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Identify their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and industry relevance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Benefits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Efficiency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Anywhere Access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Collaboration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6945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192429"/>
            <a:ext cx="1374775" cy="1145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610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907" y="261730"/>
            <a:ext cx="10353761" cy="1326321"/>
          </a:xfrm>
        </p:spPr>
        <p:txBody>
          <a:bodyPr/>
          <a:lstStyle/>
          <a:p>
            <a:r>
              <a:rPr lang="en-IN" dirty="0"/>
              <a:t>Understanding IaaS, PaaS &amp; SaaS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175" y="1442860"/>
            <a:ext cx="9740953" cy="4884240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 – Infrastructure as a Service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Provides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servers, storage, and networking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Educational Use: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Hosts student databases and institutional systems. 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Example: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Amazon EC2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PaaS – Platform as a Service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Provides a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to develop and deploy applications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Educational Use: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Builds attendance and learning portals. 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Example: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App Engine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 – Software as a Service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Provides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ready-to-use software over the Internet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Educational Use: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Email, collaboration, and learning tools. 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Example: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Workspace </a:t>
            </a:r>
          </a:p>
          <a:p>
            <a:pPr marL="0" indent="0">
              <a:buNone/>
            </a:pPr>
            <a:r>
              <a:rPr lang="en-US" sz="2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Difference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 → Infrastructure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PaaS → Application Development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 → Ready-to-use Software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36336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450846"/>
            <a:ext cx="1374775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66" y="1986117"/>
            <a:ext cx="4497378" cy="312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6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185" y="346003"/>
            <a:ext cx="10353761" cy="1326321"/>
          </a:xfrm>
        </p:spPr>
        <p:txBody>
          <a:bodyPr/>
          <a:lstStyle/>
          <a:p>
            <a:r>
              <a:rPr lang="en-IN" dirty="0"/>
              <a:t>Cloud Service Model </a:t>
            </a:r>
            <a:br>
              <a:rPr lang="en-IN" dirty="0"/>
            </a:br>
            <a:r>
              <a:rPr lang="en-IN" dirty="0"/>
              <a:t>Architecture</a:t>
            </a:r>
            <a:endParaRPr lang="en-IN" b="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09"/>
          <a:stretch/>
        </p:blipFill>
        <p:spPr>
          <a:xfrm>
            <a:off x="1668171" y="1551655"/>
            <a:ext cx="8467232" cy="5029019"/>
          </a:xfrm>
        </p:spPr>
      </p:pic>
      <p:pic>
        <p:nvPicPr>
          <p:cNvPr id="4" name="Google Shape;11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6336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17225" y="-100818"/>
            <a:ext cx="1374775" cy="1145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6877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IaaS, PaaS &amp; SaaS in an Educational Institution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175" y="1935921"/>
            <a:ext cx="8251982" cy="449357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 – Infrastructure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foundation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college systems.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databases • Virtual servers • Cloud storage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PaaS – Application Development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platform to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deploy custom applications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Attendance systems • Learning Management Systems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Student portals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 – Ready-to-Use Applications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software directly to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students, faculty, and staff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Workspace • Microsoft 365 • Online learning tools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7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Users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Administrators → IaaS | Developers → PaaS | Students &amp; Faculty → SaaS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05910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450846"/>
            <a:ext cx="1374775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06"/>
          <a:stretch/>
        </p:blipFill>
        <p:spPr>
          <a:xfrm>
            <a:off x="6985824" y="2387066"/>
            <a:ext cx="5055380" cy="325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27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575" y="342456"/>
            <a:ext cx="10353761" cy="1326321"/>
          </a:xfrm>
        </p:spPr>
        <p:txBody>
          <a:bodyPr/>
          <a:lstStyle/>
          <a:p>
            <a:r>
              <a:rPr lang="en-US" dirty="0"/>
              <a:t>Comparative Analysis of IaaS, </a:t>
            </a:r>
            <a:br>
              <a:rPr lang="en-US" dirty="0"/>
            </a:br>
            <a:r>
              <a:rPr lang="en-US" dirty="0"/>
              <a:t>PaaS &amp; SaaS</a:t>
            </a:r>
            <a:endParaRPr lang="en-IN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557402"/>
              </p:ext>
            </p:extLst>
          </p:nvPr>
        </p:nvGraphicFramePr>
        <p:xfrm>
          <a:off x="984872" y="1697597"/>
          <a:ext cx="10353676" cy="32403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88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8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84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1657">
                <a:tc>
                  <a:txBody>
                    <a:bodyPr/>
                    <a:lstStyle/>
                    <a:p>
                      <a:r>
                        <a:rPr lang="en-IN" b="1" dirty="0"/>
                        <a:t>Criteria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IaaS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PaaS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SaaS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r>
                        <a:rPr lang="en-IN" b="1" dirty="0"/>
                        <a:t>Provides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IT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Development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Ready-to-use Software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r>
                        <a:rPr lang="en-IN" b="1" dirty="0"/>
                        <a:t>Management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More user responsibility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Shared responsibility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Mostly provider-managed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r>
                        <a:rPr lang="en-IN" b="1" dirty="0"/>
                        <a:t>Primary Users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IT Administrators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Developers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Students &amp; Faculty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r>
                        <a:rPr lang="en-IN" b="1" dirty="0"/>
                        <a:t>College Application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Host IT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Build custom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 digital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r>
                        <a:rPr lang="en-IN" b="1" dirty="0"/>
                        <a:t>Example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AWS EC2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Google App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Google Workspace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42637"/>
            <a:ext cx="1374775" cy="1145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726363" y="5188226"/>
            <a:ext cx="104829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 → Maximum Control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PaaS → Balanced Control &amp; Convenience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 → Maximum Convenience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move from IaaS → PaaS → SaaS, user control decreases while ease of use increases.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423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907" y="747165"/>
            <a:ext cx="10353761" cy="1326321"/>
          </a:xfrm>
        </p:spPr>
        <p:txBody>
          <a:bodyPr/>
          <a:lstStyle/>
          <a:p>
            <a:r>
              <a:rPr lang="en-US" dirty="0"/>
              <a:t>Real-World Use Case: Cloud-Based Smart College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1400" y="2073486"/>
            <a:ext cx="9985590" cy="42351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Using All Three Cloud Models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 – Infrastructure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Information System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Stores student records and databases on cloud servers.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PaaS – Platform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&amp; Learning Portal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Helps the college develop and run custom applications.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 – Software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Workspace / Microsoft 365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Provides email, documents, file sharing, and collaboration.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Cost | Scalability | Easy Access | Better Digital Services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59635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269783"/>
            <a:ext cx="1374775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0" y="2456038"/>
            <a:ext cx="4365978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40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221" y="273142"/>
            <a:ext cx="10353761" cy="1326321"/>
          </a:xfrm>
        </p:spPr>
        <p:txBody>
          <a:bodyPr/>
          <a:lstStyle/>
          <a:p>
            <a:r>
              <a:rPr lang="en-US" dirty="0"/>
              <a:t>Industrial relevance </a:t>
            </a:r>
            <a:br>
              <a:rPr lang="en-US" dirty="0"/>
            </a:br>
            <a:r>
              <a:rPr lang="en-US" dirty="0"/>
              <a:t>and 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605" y="1401644"/>
            <a:ext cx="10353762" cy="3695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Relevance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digital transformation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and other industries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dependence on costly physical IT infrastructure.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organizations choose services based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cost, control, and technical needs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suitable when greater control is required.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PaaS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suitable for institutions developing customized digital solutions.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suitable for everyday academic and administrative services.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college can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combination of all three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meet different requirements.     </a:t>
            </a:r>
          </a:p>
          <a:p>
            <a:pPr marL="0" indent="0">
              <a:buNone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:The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right cloud model depends on an institution's needs, resources, and desired level of control.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59635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42637"/>
            <a:ext cx="1374775" cy="1145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2957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916" y="2716695"/>
            <a:ext cx="10353761" cy="1326321"/>
          </a:xfrm>
        </p:spPr>
        <p:txBody>
          <a:bodyPr>
            <a:normAutofit/>
          </a:bodyPr>
          <a:lstStyle/>
          <a:p>
            <a:r>
              <a:rPr lang="en-US" sz="6500" dirty="0"/>
              <a:t>THANKYOU</a:t>
            </a:r>
            <a:endParaRPr lang="en-IN" sz="6500" dirty="0"/>
          </a:p>
        </p:txBody>
      </p:sp>
      <p:pic>
        <p:nvPicPr>
          <p:cNvPr id="4" name="Google Shape;112;p14">
            <a:extLst>
              <a:ext uri="{FF2B5EF4-FFF2-40B4-BE49-F238E27FC236}">
                <a16:creationId xmlns:a16="http://schemas.microsoft.com/office/drawing/2014/main" id="{0003889B-EE4D-5A26-9D4F-5F884411593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17225" y="-42637"/>
            <a:ext cx="1374775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1;p14">
            <a:extLst>
              <a:ext uri="{FF2B5EF4-FFF2-40B4-BE49-F238E27FC236}">
                <a16:creationId xmlns:a16="http://schemas.microsoft.com/office/drawing/2014/main" id="{5090B86B-AD81-B937-B06E-4E15CA390C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9635"/>
            <a:ext cx="1406350" cy="1145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6428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1;p14">
            <a:extLst>
              <a:ext uri="{FF2B5EF4-FFF2-40B4-BE49-F238E27FC236}">
                <a16:creationId xmlns:a16="http://schemas.microsoft.com/office/drawing/2014/main" id="{78D5CB48-FCF1-0D89-E821-336E7590FA8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59635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3C1AB4-D9F6-E575-A0A6-5A9C4DD19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951" y="1200450"/>
            <a:ext cx="8337082" cy="4689608"/>
          </a:xfrm>
          <a:prstGeom prst="rect">
            <a:avLst/>
          </a:prstGeom>
        </p:spPr>
      </p:pic>
      <p:pic>
        <p:nvPicPr>
          <p:cNvPr id="11" name="Google Shape;112;p14">
            <a:extLst>
              <a:ext uri="{FF2B5EF4-FFF2-40B4-BE49-F238E27FC236}">
                <a16:creationId xmlns:a16="http://schemas.microsoft.com/office/drawing/2014/main" id="{127B5122-736C-25B2-1FC8-622F2240BE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17225" y="-42637"/>
            <a:ext cx="1374775" cy="1145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34667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1309</TotalTime>
  <Words>643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Bookman Old Style</vt:lpstr>
      <vt:lpstr>Rockwell</vt:lpstr>
      <vt:lpstr>Times New Roman</vt:lpstr>
      <vt:lpstr>Wingdings</vt:lpstr>
      <vt:lpstr>Damask</vt:lpstr>
      <vt:lpstr>PowerPoint Presentation</vt:lpstr>
      <vt:lpstr>PowerPoint Presentation</vt:lpstr>
      <vt:lpstr>PowerPoint Presentation</vt:lpstr>
      <vt:lpstr>PowerPoint Presentation</vt:lpstr>
      <vt:lpstr>Cloud Computing in Education: Overview &amp; Objectives</vt:lpstr>
      <vt:lpstr>Understanding IaaS, PaaS &amp; SaaS</vt:lpstr>
      <vt:lpstr>Cloud Service Model  Architecture</vt:lpstr>
      <vt:lpstr>IaaS, PaaS &amp; SaaS in an Educational Institution</vt:lpstr>
      <vt:lpstr>Comparative Analysis of IaaS,  PaaS &amp; SaaS</vt:lpstr>
      <vt:lpstr>Real-World Use Case: Cloud-Based Smart College</vt:lpstr>
      <vt:lpstr>Industrial relevance  and conclusion</vt:lpstr>
      <vt:lpstr>THANKYOU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 SAI TECH</dc:creator>
  <cp:lastModifiedBy>G.Hima Bindu Hima</cp:lastModifiedBy>
  <cp:revision>26</cp:revision>
  <dcterms:created xsi:type="dcterms:W3CDTF">2026-07-22T10:00:47Z</dcterms:created>
  <dcterms:modified xsi:type="dcterms:W3CDTF">2026-07-23T09:02:23Z</dcterms:modified>
</cp:coreProperties>
</file>